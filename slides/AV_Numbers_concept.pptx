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96596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5D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pPr algn="ctr" indent="0" marL="0">
              <a:buNone/>
            </a:pPr>
            <a:r>
              <a:rPr lang="en-US" sz="6000" b="1" dirty="0">
                <a:solidFill>
                  <a:srgbClr val="2F86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</a:t>
            </a:r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Numbers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大きい・普通・小さい、3つの数字で計算する数直線パズル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194560" y="4526280"/>
            <a:ext cx="7802575" cy="0"/>
          </a:xfrm>
          <a:prstGeom prst="line">
            <a:avLst/>
          </a:prstGeom>
          <a:noFill/>
          <a:ln w="19050">
            <a:solidFill>
              <a:srgbClr val="3A4A7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53412" y="4485132"/>
            <a:ext cx="82296" cy="82296"/>
          </a:xfrm>
          <a:prstGeom prst="ellipse">
            <a:avLst/>
          </a:prstGeom>
          <a:solidFill>
            <a:srgbClr val="8FB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37360" y="4023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E6F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53841" y="4485132"/>
            <a:ext cx="82296" cy="82296"/>
          </a:xfrm>
          <a:prstGeom prst="ellipse">
            <a:avLst/>
          </a:prstGeom>
          <a:solidFill>
            <a:srgbClr val="8FB4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037789" y="4023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E6F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pPr algn="ctr" indent="0" marL="0">
              <a:buNone/>
            </a:pPr>
            <a:r>
              <a:rPr lang="en-US" sz="1500" b="1" dirty="0">
                <a:solidFill>
                  <a:srgbClr val="FF5D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54270" y="4485132"/>
            <a:ext cx="82296" cy="82296"/>
          </a:xfrm>
          <a:prstGeom prst="ellipse">
            <a:avLst/>
          </a:prstGeom>
          <a:solidFill>
            <a:srgbClr val="8FB4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38218" y="4023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E6F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pPr algn="ctr" indent="0" marL="0">
              <a:buNone/>
            </a:pPr>
            <a:r>
              <a:rPr lang="en-US" sz="1500" b="1" dirty="0">
                <a:solidFill>
                  <a:srgbClr val="2F86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54700" y="4485132"/>
            <a:ext cx="82296" cy="82296"/>
          </a:xfrm>
          <a:prstGeom prst="ellipse">
            <a:avLst/>
          </a:prstGeom>
          <a:solidFill>
            <a:srgbClr val="8FB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38648" y="4023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E6F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55129" y="4485132"/>
            <a:ext cx="82296" cy="82296"/>
          </a:xfrm>
          <a:prstGeom prst="ellipse">
            <a:avLst/>
          </a:prstGeom>
          <a:solidFill>
            <a:srgbClr val="8FB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939077" y="4023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E6F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pPr algn="ctr" indent="0" marL="0">
              <a:buNone/>
            </a:pPr>
            <a:r>
              <a:rPr lang="en-US" sz="1500" b="1" dirty="0">
                <a:solidFill>
                  <a:srgbClr val="FF5D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655558" y="4485132"/>
            <a:ext cx="82296" cy="82296"/>
          </a:xfrm>
          <a:prstGeom prst="ellipse">
            <a:avLst/>
          </a:prstGeom>
          <a:solidFill>
            <a:srgbClr val="8FB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39506" y="4023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E6F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pPr algn="ctr" indent="0" marL="0">
              <a:buNone/>
            </a:pPr>
            <a:r>
              <a:rPr lang="en-US" sz="1500" b="1" dirty="0">
                <a:solidFill>
                  <a:srgbClr val="2F86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955987" y="4485132"/>
            <a:ext cx="82296" cy="82296"/>
          </a:xfrm>
          <a:prstGeom prst="ellipse">
            <a:avLst/>
          </a:prstGeom>
          <a:solidFill>
            <a:srgbClr val="8FB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539935" y="4023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E6F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261208" y="5349240"/>
            <a:ext cx="5669280" cy="566928"/>
          </a:xfrm>
          <a:prstGeom prst="roundRect">
            <a:avLst>
              <a:gd name="adj" fmla="val 50000"/>
            </a:avLst>
          </a:prstGeom>
          <a:solidFill>
            <a:srgbClr val="222E4E"/>
          </a:solidFill>
          <a:ln w="12700">
            <a:solidFill>
              <a:srgbClr val="3A4A7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61208" y="534924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av-numbers.ns-studio.workers.dev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5D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CONCEPT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3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5歳の子どもの発想から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53746" y="1899666"/>
            <a:ext cx="2692908" cy="26929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231697" y="2411319"/>
            <a:ext cx="737006" cy="737006"/>
          </a:xfrm>
          <a:prstGeom prst="ellipse">
            <a:avLst/>
          </a:prstGeom>
          <a:solidFill>
            <a:srgbClr val="17233C"/>
          </a:solidFill>
          <a:ln/>
        </p:spPr>
      </p:sp>
      <p:sp>
        <p:nvSpPr>
          <p:cNvPr id="6" name="Shape 4"/>
          <p:cNvSpPr/>
          <p:nvPr/>
        </p:nvSpPr>
        <p:spPr>
          <a:xfrm>
            <a:off x="1118311" y="3044152"/>
            <a:ext cx="963778" cy="878738"/>
          </a:xfrm>
          <a:prstGeom prst="roundRect">
            <a:avLst>
              <a:gd name="adj" fmla="val 25806"/>
            </a:avLst>
          </a:prstGeom>
          <a:solidFill>
            <a:srgbClr val="17233C"/>
          </a:solidFill>
          <a:ln/>
        </p:spPr>
      </p:sp>
      <p:sp>
        <p:nvSpPr>
          <p:cNvPr id="7" name="Shape 5"/>
          <p:cNvSpPr/>
          <p:nvPr/>
        </p:nvSpPr>
        <p:spPr>
          <a:xfrm>
            <a:off x="256032" y="1901952"/>
            <a:ext cx="2688336" cy="2688336"/>
          </a:xfrm>
          <a:prstGeom prst="ellipse">
            <a:avLst/>
          </a:prstGeom>
          <a:ln w="19050">
            <a:solidFill>
              <a:srgbClr val="E3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1874520"/>
            <a:ext cx="827532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17233C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57600" y="1874520"/>
            <a:ext cx="7543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3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「大きい1 ＋ 1 ＝ 大きい2」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91840" y="2926080"/>
            <a:ext cx="827532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17233C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657600" y="2926080"/>
            <a:ext cx="7543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3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「小さい1 ＋ 小さい1 ＝ 大きい1」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291840" y="3977640"/>
            <a:ext cx="827532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17233C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657600" y="3977640"/>
            <a:ext cx="7543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3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「大きい1 ＋ 小さい1 ＝ 2」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0080" y="5074920"/>
            <a:ext cx="10911535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640080" y="530352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i="1" dirty="0">
                <a:solidFill>
                  <a:srgbClr val="6B76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この発想から、数字が「小さい・普通・大きい」の3つの状態を持つ、
</a:t>
            </a:r>
            <a:pPr indent="0" marL="0">
              <a:lnSpc>
                <a:spcPts val="2800"/>
              </a:lnSpc>
              <a:buNone/>
            </a:pPr>
            <a:r>
              <a:rPr lang="en-US" sz="1900" b="1" i="1" dirty="0">
                <a:solidFill>
                  <a:srgbClr val="1723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というゲームが生まれました。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10728655" y="6355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/ 07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5D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CONCEPT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3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数字が持つ、3つの状態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88720" y="2606040"/>
            <a:ext cx="9814255" cy="0"/>
          </a:xfrm>
          <a:prstGeom prst="line">
            <a:avLst/>
          </a:prstGeom>
          <a:noFill/>
          <a:ln w="25400">
            <a:solidFill>
              <a:srgbClr val="E3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4712" y="2542032"/>
            <a:ext cx="128016" cy="128016"/>
          </a:xfrm>
          <a:prstGeom prst="ellipse">
            <a:avLst/>
          </a:prstGeom>
          <a:solidFill>
            <a:srgbClr val="1723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03911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3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2760421" y="2542032"/>
            <a:ext cx="128016" cy="128016"/>
          </a:xfrm>
          <a:prstGeom prst="ellipse">
            <a:avLst/>
          </a:prstGeom>
          <a:solidFill>
            <a:srgbClr val="FF5D7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321509" y="203911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3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pPr algn="ctr" indent="0" marL="0">
              <a:buNone/>
            </a:pPr>
            <a:r>
              <a:rPr lang="en-US" sz="1900" b="1" dirty="0">
                <a:solidFill>
                  <a:srgbClr val="FF5D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96130" y="2542032"/>
            <a:ext cx="128016" cy="128016"/>
          </a:xfrm>
          <a:prstGeom prst="ellipse">
            <a:avLst/>
          </a:prstGeom>
          <a:solidFill>
            <a:srgbClr val="2F86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957218" y="203911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3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pPr algn="ctr" indent="0" marL="0">
              <a:buNone/>
            </a:pPr>
            <a:r>
              <a:rPr lang="en-US" sz="1900" b="1" dirty="0">
                <a:solidFill>
                  <a:srgbClr val="2F86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031840" y="2542032"/>
            <a:ext cx="128016" cy="128016"/>
          </a:xfrm>
          <a:prstGeom prst="ellipse">
            <a:avLst/>
          </a:prstGeom>
          <a:solidFill>
            <a:srgbClr val="17233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592928" y="203911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3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667549" y="2542032"/>
            <a:ext cx="128016" cy="128016"/>
          </a:xfrm>
          <a:prstGeom prst="ellipse">
            <a:avLst/>
          </a:prstGeom>
          <a:solidFill>
            <a:srgbClr val="FF5D7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228637" y="203911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3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pPr algn="ctr" indent="0" marL="0">
              <a:buNone/>
            </a:pPr>
            <a:r>
              <a:rPr lang="en-US" sz="1900" b="1" dirty="0">
                <a:solidFill>
                  <a:srgbClr val="FF5D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9303258" y="2542032"/>
            <a:ext cx="128016" cy="128016"/>
          </a:xfrm>
          <a:prstGeom prst="ellipse">
            <a:avLst/>
          </a:prstGeom>
          <a:solidFill>
            <a:srgbClr val="2F86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864346" y="203911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3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pPr algn="ctr" indent="0" marL="0">
              <a:buNone/>
            </a:pPr>
            <a:r>
              <a:rPr lang="en-US" sz="1900" b="1" dirty="0">
                <a:solidFill>
                  <a:srgbClr val="2F86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10938967" y="2542032"/>
            <a:ext cx="128016" cy="128016"/>
          </a:xfrm>
          <a:prstGeom prst="ellipse">
            <a:avLst/>
          </a:prstGeom>
          <a:solidFill>
            <a:srgbClr val="1723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00055" y="203911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3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32308" y="3566160"/>
            <a:ext cx="3429000" cy="2331720"/>
          </a:xfrm>
          <a:prstGeom prst="roundRect">
            <a:avLst>
              <a:gd name="adj" fmla="val 6275"/>
            </a:avLst>
          </a:prstGeom>
          <a:solidFill>
            <a:srgbClr val="EAF3FF"/>
          </a:solidFill>
          <a:ln w="19050">
            <a:solidFill>
              <a:srgbClr val="2F86FF"/>
            </a:solidFill>
            <a:prstDash val="solid"/>
          </a:ln>
          <a:effectLst>
            <a:outerShdw sx="100000" sy="100000" kx="0" ky="0" algn="bl" rotWithShape="0" blurRad="177800" dist="50800" dir="5400000">
              <a:srgbClr val="17233C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026768" y="3886200"/>
            <a:ext cx="640080" cy="640080"/>
          </a:xfrm>
          <a:prstGeom prst="ellipse">
            <a:avLst/>
          </a:prstGeom>
          <a:solidFill>
            <a:srgbClr val="2F86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026768" y="3886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632308" y="464515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3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小さい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32308" y="501091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8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 = n − 1/3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32308" y="54681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整数より 1段 下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81348" y="3566160"/>
            <a:ext cx="3429000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17233C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775808" y="3886200"/>
            <a:ext cx="640080" cy="640080"/>
          </a:xfrm>
          <a:prstGeom prst="ellipse">
            <a:avLst/>
          </a:prstGeom>
          <a:solidFill>
            <a:srgbClr val="17233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775808" y="3886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普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4381348" y="464515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3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普通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4381348" y="501091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4381348" y="54681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そのままの整数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30388" y="3566160"/>
            <a:ext cx="3429000" cy="2331720"/>
          </a:xfrm>
          <a:prstGeom prst="roundRect">
            <a:avLst>
              <a:gd name="adj" fmla="val 6275"/>
            </a:avLst>
          </a:prstGeom>
          <a:solidFill>
            <a:srgbClr val="FFEDEF"/>
          </a:solidFill>
          <a:ln w="19050">
            <a:solidFill>
              <a:srgbClr val="FF5D72"/>
            </a:solidFill>
            <a:prstDash val="solid"/>
          </a:ln>
          <a:effectLst>
            <a:outerShdw sx="100000" sy="100000" kx="0" ky="0" algn="bl" rotWithShape="0" blurRad="177800" dist="50800" dir="5400000">
              <a:srgbClr val="17233C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24848" y="3886200"/>
            <a:ext cx="640080" cy="640080"/>
          </a:xfrm>
          <a:prstGeom prst="ellipse">
            <a:avLst/>
          </a:prstGeom>
          <a:solidFill>
            <a:srgbClr val="FF5D7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524848" y="3886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</a:t>
            </a:r>
            <a:endParaRPr lang="en-US" sz="2600" dirty="0"/>
          </a:p>
        </p:txBody>
      </p:sp>
      <p:sp>
        <p:nvSpPr>
          <p:cNvPr id="34" name="Text 32"/>
          <p:cNvSpPr txBox="1"/>
          <p:nvPr/>
        </p:nvSpPr>
        <p:spPr>
          <a:xfrm>
            <a:off x="8130388" y="464515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3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大きい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8130388" y="501091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D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 = n + 1/3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8130388" y="54681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整数より 1段 上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0728655" y="6355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/ 07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5D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RULE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3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計算のルール — 足し算と引き算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46608" y="1920240"/>
            <a:ext cx="5120640" cy="411480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/>
          <a:effectLst>
            <a:outerShdw sx="100000" sy="100000" kx="0" ky="0" algn="bl" rotWithShape="0" blurRad="177800" dist="50800" dir="5400000">
              <a:srgbClr val="17233C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203808" y="22860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86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足し算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203808" y="28803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723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左右の状態が、そのまま合成される。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03808" y="3703320"/>
            <a:ext cx="42062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32408" y="37764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2v + 3A = 5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432408" y="421538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逆向きが打ち消し合う（相殺）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203808" y="4892040"/>
            <a:ext cx="42062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432408" y="49651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2A + 3A = 6v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432408" y="54041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同じ向きが重なり繰り上がる（正規化）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24448" y="1920240"/>
            <a:ext cx="5120640" cy="4114800"/>
          </a:xfrm>
          <a:prstGeom prst="roundRect">
            <a:avLst>
              <a:gd name="adj" fmla="val 4000"/>
            </a:avLst>
          </a:prstGeom>
          <a:solidFill>
            <a:srgbClr val="FFEDEF"/>
          </a:solidFill>
          <a:ln/>
          <a:effectLst>
            <a:outerShdw sx="100000" sy="100000" kx="0" ky="0" algn="bl" rotWithShape="0" blurRad="177800" dist="50800" dir="5400000">
              <a:srgbClr val="17233C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781648" y="22860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5D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引き算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781648" y="28803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723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右側の数の状態だけ、向きが反転する。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81648" y="3703320"/>
            <a:ext cx="42062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010248" y="37764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5 − 3v = 2A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010248" y="421538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小さい数を引く → 答えは大きくなる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781648" y="4892040"/>
            <a:ext cx="42062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010248" y="49651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5 − 3A = 2v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7010248" y="54041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大きい数を引く → 答えは小さくなる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0728655" y="6355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/ 07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5D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3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遊び方 — 2段階で答える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3728" y="1965960"/>
            <a:ext cx="5120640" cy="32004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1723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0928" y="2423160"/>
            <a:ext cx="822960" cy="822960"/>
          </a:xfrm>
          <a:prstGeom prst="ellipse">
            <a:avLst/>
          </a:prstGeom>
          <a:solidFill>
            <a:srgbClr val="1723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0928" y="2423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2072488" y="2468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3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記号を無視して計算する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020928" y="34747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B76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 / A をいったん無視して、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B76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普通の数字だけで計算する。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20928" y="4389120"/>
            <a:ext cx="42062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20928" y="43891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1 2 3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821528" y="32461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B76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507328" y="1965960"/>
            <a:ext cx="5120640" cy="3200400"/>
          </a:xfrm>
          <a:prstGeom prst="roundRect">
            <a:avLst>
              <a:gd name="adj" fmla="val 5143"/>
            </a:avLst>
          </a:prstGeom>
          <a:solidFill>
            <a:srgbClr val="EAF3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77800" dist="50800" dir="5400000">
              <a:srgbClr val="1723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964528" y="2423160"/>
            <a:ext cx="822960" cy="822960"/>
          </a:xfrm>
          <a:prstGeom prst="ellipse">
            <a:avLst/>
          </a:prstGeom>
          <a:solidFill>
            <a:srgbClr val="2F86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964528" y="2423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8016088" y="2468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3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記号の状態分だけ動かす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6964528" y="34747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B76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矢印で数直線を1段ずつ動かし、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B76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 / A の分を反映する。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964528" y="4389120"/>
            <a:ext cx="42062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64528" y="43891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8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 →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44068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6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不正解のときは、</a:t>
            </a:r>
            <a:pPr indent="0" marL="0">
              <a:buNone/>
            </a:pPr>
            <a:r>
              <a:rPr lang="en-US" sz="1500" b="1" dirty="0">
                <a:solidFill>
                  <a:srgbClr val="1723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数直線アニメーション</a:t>
            </a:r>
            <a:pPr indent="0" marL="0">
              <a:buNone/>
            </a:pPr>
            <a:r>
              <a:rPr lang="en-US" sz="1500" dirty="0">
                <a:solidFill>
                  <a:srgbClr val="6B76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で「どの記号が」「どちらへ」動いたのかを見せてくれる。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728655" y="6355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/ 07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5D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STRUCTURE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3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ゲーム構成 — 全3ステージ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32308" y="1965960"/>
            <a:ext cx="3429000" cy="374904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1723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89608" y="2468880"/>
            <a:ext cx="914400" cy="914400"/>
          </a:xfrm>
          <a:prstGeom prst="ellipse">
            <a:avLst/>
          </a:prstGeom>
          <a:solidFill>
            <a:srgbClr val="1723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889608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Stage 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52348" y="365760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3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2項の計算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52348" y="438912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B76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足し算・引き算を、片側 → 両側の記号へと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B76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1問ずつ段階的に難しくしていく。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1348" y="1965960"/>
            <a:ext cx="3429000" cy="374904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17233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38648" y="2468880"/>
            <a:ext cx="914400" cy="914400"/>
          </a:xfrm>
          <a:prstGeom prst="ellipse">
            <a:avLst/>
          </a:prstGeom>
          <a:solidFill>
            <a:srgbClr val="2F86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38648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Stage 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701388" y="365760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3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3項以上の複合計算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701388" y="438912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B76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足し算・引き算が混在する式で、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B76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複数の記号の作用を順番に追う。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0388" y="1965960"/>
            <a:ext cx="3429000" cy="374904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17233C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87688" y="2468880"/>
            <a:ext cx="914400" cy="914400"/>
          </a:xfrm>
          <a:prstGeom prst="ellipse">
            <a:avLst/>
          </a:prstGeom>
          <a:solidFill>
            <a:srgbClr val="FF5D7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387688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Stage 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450428" y="365760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3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逆算（穴埋め）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450428" y="438912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B76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式の一部が「？」になった問題を、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B76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結果から逆向きに考えて解く。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9893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6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1ステージ10問。8問正解でクリアすると、次のステージが解放される。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728655" y="6355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/ 07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2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14884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遊</a:t>
            </a:r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んでみよう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0" y="30632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FB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ブラウザで開くだけ。インストール不要。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804008" y="3794760"/>
            <a:ext cx="6583680" cy="777240"/>
          </a:xfrm>
          <a:prstGeom prst="roundRect">
            <a:avLst>
              <a:gd name="adj" fmla="val 49412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804008" y="379476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5D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pPr algn="ctr" indent="0" marL="0">
              <a:buNone/>
            </a:pPr>
            <a:r>
              <a:rPr lang="en-US" sz="1800" b="1" dirty="0">
                <a:solidFill>
                  <a:srgbClr val="2F86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</a:t>
            </a:r>
            <a:pPr algn="ctr" indent="0" marL="0">
              <a:buNone/>
            </a:pPr>
            <a:r>
              <a:rPr lang="en-US" sz="1800" b="1" dirty="0">
                <a:solidFill>
                  <a:srgbClr val="1723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av-numbers.ns-studio.workers.dev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C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GitHub: github.com/Naohide-Sugita/av-numbers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2026-09-13T05:48:39Z</dcterms:created>
  <dcterms:modified xsi:type="dcterms:W3CDTF">2026-09-13T05:48:39Z</dcterms:modified>
</cp:coreProperties>
</file>